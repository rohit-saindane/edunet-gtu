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TWh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33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
(actual)</c:v>
                  </c:pt>
                  <c:pt idx="1">
                    <c:v>2030
(IEA projection)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415</c:v>
                </c:pt>
                <c:pt idx="1">
                  <c:v>945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333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4"/>
        </a:solidFill>
        <a:ln>
          <a:noFill/>
        </a:ln>
        <a:effectLst/>
      </c:spPr>
    </c:plotArea>
    <c:plotVisOnly val="1"/>
    <c:dispBlanksAs val="span"/>
  </c:chart>
  <c:spPr>
    <a:solidFill>
      <a:srgbClr val="F7F8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572000" cy="4572000"/>
          </a:xfrm>
          <a:prstGeom prst="ellipse">
            <a:avLst/>
          </a:prstGeom>
          <a:solidFill>
            <a:srgbClr val="1E422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97680"/>
            <a:ext cx="3840480" cy="3840480"/>
          </a:xfrm>
          <a:prstGeom prst="ellipse">
            <a:avLst/>
          </a:prstGeom>
          <a:solidFill>
            <a:srgbClr val="1E4220"/>
          </a:solidFill>
          <a:ln/>
        </p:spPr>
      </p:sp>
      <p:sp>
        <p:nvSpPr>
          <p:cNvPr id="4" name="Shape 2"/>
          <p:cNvSpPr/>
          <p:nvPr/>
        </p:nvSpPr>
        <p:spPr>
          <a:xfrm rot="-360000">
            <a:off x="640080" y="54864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60000">
            <a:off x="741121" y="6496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 rot="-180000">
            <a:off x="1536192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F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Presentation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8961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DATA &amp; THE PATH TO 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FUTURE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through data centres, footprint calculators, climate simulation,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7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waste tech and green skilling for the SDGs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434840"/>
            <a:ext cx="7680960" cy="1783080"/>
          </a:xfrm>
          <a:prstGeom prst="roundRect">
            <a:avLst>
              <a:gd name="adj" fmla="val 5641"/>
            </a:avLst>
          </a:prstGeom>
          <a:solidFill>
            <a:srgbClr val="1E4220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Saindane Rohit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6344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6344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250843131022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5394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" y="5669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5394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63440" y="5669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RNGPIT Institute of Technology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1622024" y="6437376"/>
            <a:ext cx="146304" cy="146304"/>
          </a:xfrm>
          <a:prstGeom prst="ellipse">
            <a:avLst/>
          </a:prstGeom>
          <a:solidFill>
            <a:srgbClr val="1E422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320272" y="64008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00000">
            <a:off x="548640" y="502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00000"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3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Cost of AI: Data Centres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data-centre documentary &amp; IEA energy research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6126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 centres consumed ~415 TWh of electricity in 2024 — about 1.5% of the world's total power use.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AI-focused data-centre electricity use alone surged by 50% in a single year (2025), far outpacing overall demand growth.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the servers is nearly as energy-intensive as running them — and consumes massive volumes of fresh water for heat exchange.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 hosts roughly 45% of global data-centre electricity demand, followed by China (~25%) and Europe (~15%).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Tech's data-centre capital spending crossed USD 400 billion in 2025 — larger than global oil &amp; gas investment.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040880" y="1508760"/>
            <a:ext cx="4572000" cy="4617720"/>
          </a:xfrm>
          <a:prstGeom prst="roundRect">
            <a:avLst>
              <a:gd name="adj" fmla="val 2000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DATA-CENTRE ELECTRICITY DEMAND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0" y="214884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7315200" y="5257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doubling in 6 years — driven mainly by AI training &amp; inference workloads.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1622024" y="6437376"/>
            <a:ext cx="146304" cy="146304"/>
          </a:xfrm>
          <a:prstGeom prst="ellipse">
            <a:avLst/>
          </a:prstGeom>
          <a:solidFill>
            <a:srgbClr val="E7F0D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320272" y="64008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548640" y="502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00000"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Our Footprint: Calculators &amp; Global Simulation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explored across the footprint, carbon, transport-emission and En-ROADS climate tools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 rot="-240000">
            <a:off x="777240" y="1737360"/>
            <a:ext cx="594360" cy="59436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">
            <a:off x="854507" y="1814627"/>
            <a:ext cx="439826" cy="4398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709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Footprint Calculator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77240" y="23774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everyday choices — food, housing, transport, goods — into 'number of Earths' needed if everyone consumed the way I do.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72200" y="1508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 rot="180000">
            <a:off x="6400800" y="1737360"/>
            <a:ext cx="594360" cy="59436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6478067" y="1814627"/>
            <a:ext cx="439826" cy="4398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1709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Calculator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400800" y="23774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personal/household CO2e emissions from electricity use, travel and diet, and shows where the biggest cuts are possible.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319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 rot="-180000">
            <a:off x="777240" y="4160520"/>
            <a:ext cx="594360" cy="59436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854507" y="4237787"/>
            <a:ext cx="439826" cy="4398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1330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EcoTransIT Emission Calculator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77240" y="48006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CO2 emissions of road, rail, sea and air freight for the same route — shows how logistics choices swing a supply chain's carbon footprint.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172200" y="393192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 rot="240000">
            <a:off x="6400800" y="4160520"/>
            <a:ext cx="594360" cy="59436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0000">
            <a:off x="6478067" y="4237787"/>
            <a:ext cx="439826" cy="4398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41330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 Climate Simulator (MIT)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400800" y="48006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global model — adjusting levers like carbon price, renewables growth or deforestation instantly re-projects global temperature rise by 2100.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11622024" y="6437376"/>
            <a:ext cx="146304" cy="146304"/>
          </a:xfrm>
          <a:prstGeom prst="ellipse">
            <a:avLst/>
          </a:prstGeom>
          <a:solidFill>
            <a:srgbClr val="E7F0D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1320272" y="64008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548640" y="502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Snapshot: Tools &amp; Platforms Explored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 for each activity link — screenshots of my own calculator runs to be inserted here for submission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749040" cy="1783080"/>
          </a:xfrm>
          <a:prstGeom prst="roundRect">
            <a:avLst>
              <a:gd name="adj" fmla="val 3590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 rot="240000">
            <a:off x="749808" y="1755648"/>
            <a:ext cx="502920" cy="50292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815188" y="1821028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 Documentary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49808" y="23317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gen.e_media (YouTube)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49808" y="2633472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 → 3%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49808" y="303580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world electricity by 2030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26280" y="155448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 rot="-180000">
            <a:off x="4727448" y="1755648"/>
            <a:ext cx="502920" cy="50292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4792828" y="1821028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Footprint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727448" y="23317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footprint.conservation.org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727448" y="2633472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Earths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4727448" y="303580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my lifestyle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8503920" y="155448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 rot="300000">
            <a:off x="8705088" y="1755648"/>
            <a:ext cx="502920" cy="50292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00000">
            <a:off x="8770468" y="1821028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Calculator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705088" y="23317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CO2 estimator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705088" y="2633472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CO2e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8705088" y="303580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by category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48640" y="3566160"/>
            <a:ext cx="3749040" cy="1783080"/>
          </a:xfrm>
          <a:prstGeom prst="roundRect">
            <a:avLst>
              <a:gd name="adj" fmla="val 4615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 rot="-240000">
            <a:off x="749808" y="3767328"/>
            <a:ext cx="502920" cy="50292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240000">
            <a:off x="815188" y="3832708"/>
            <a:ext cx="372161" cy="37216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EcoTransIT World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49808" y="43434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emissioncalculator.ecotransit.world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49808" y="4645152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Road/Rail/Sea/Air</a:t>
            </a:r>
            <a:endParaRPr lang="en-US" sz="1900" dirty="0"/>
          </a:p>
        </p:txBody>
      </p:sp>
      <p:sp>
        <p:nvSpPr>
          <p:cNvPr id="33" name="Text 26"/>
          <p:cNvSpPr/>
          <p:nvPr/>
        </p:nvSpPr>
        <p:spPr>
          <a:xfrm>
            <a:off x="749808" y="504748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emissions compared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526280" y="3566160"/>
            <a:ext cx="3749040" cy="1783080"/>
          </a:xfrm>
          <a:prstGeom prst="roundRect">
            <a:avLst>
              <a:gd name="adj" fmla="val 3590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 rot="180000">
            <a:off x="4727448" y="3767328"/>
            <a:ext cx="502920" cy="50292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">
            <a:off x="4792828" y="3832708"/>
            <a:ext cx="372161" cy="37216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34924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 Simulator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4727448" y="43434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en-roads.climateinteractive.org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727448" y="4645152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by 2100</a:t>
            </a:r>
            <a:endParaRPr lang="en-US" sz="1900" dirty="0"/>
          </a:p>
        </p:txBody>
      </p:sp>
      <p:sp>
        <p:nvSpPr>
          <p:cNvPr id="40" name="Text 32"/>
          <p:cNvSpPr/>
          <p:nvPr/>
        </p:nvSpPr>
        <p:spPr>
          <a:xfrm>
            <a:off x="4727448" y="504748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under my scenario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8503920" y="356616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 rot="-300000">
            <a:off x="8705088" y="3767328"/>
            <a:ext cx="502920" cy="50292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300000">
            <a:off x="8770468" y="3832708"/>
            <a:ext cx="372161" cy="372161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32688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 AI Smart Bins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8705088" y="43434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companies, 17 countries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8705088" y="4645152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900" dirty="0"/>
          </a:p>
        </p:txBody>
      </p:sp>
      <p:sp>
        <p:nvSpPr>
          <p:cNvPr id="47" name="Text 38"/>
          <p:cNvSpPr/>
          <p:nvPr/>
        </p:nvSpPr>
        <p:spPr>
          <a:xfrm>
            <a:off x="8705088" y="504748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waste-recognition accuracy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11622024" y="6437376"/>
            <a:ext cx="146304" cy="146304"/>
          </a:xfrm>
          <a:prstGeom prst="ellipse">
            <a:avLst/>
          </a:prstGeom>
          <a:solidFill>
            <a:srgbClr val="E7F0D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11320272" y="64008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60000">
            <a:off x="548640" y="502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60000"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33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Skilling, Sustainability &amp; AI — A Balanced View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concepts tying the links together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E7F0DA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 rot="-360000">
            <a:off x="77724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60000">
            <a:off x="842620" y="175702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20574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people for jobs in renewable energy, waste management &amp; sustainability — e.g. SCGJ's Suryamitra solar-technician programme has certified 500,000+ workers in India.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15087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E7F0DA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 rot="420000">
            <a:off x="649224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0000">
            <a:off x="6557620" y="175702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92240" y="20574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today's needs (energy, food, jobs) without compromising future generations' ability to meet theirs — the core idea behind the UN's 17 Sustainable Development Goals.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10896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 rot="-300000">
            <a:off x="777240" y="3337560"/>
            <a:ext cx="502920" cy="502920"/>
          </a:xfrm>
          <a:prstGeom prst="ellipse">
            <a:avLst/>
          </a:prstGeom>
          <a:solidFill>
            <a:srgbClr val="E7F0D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00000">
            <a:off x="842620" y="3402940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337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The Good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22960" y="37947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Optimises power grids &amp; renewable integration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smart waste sorting (e.g. NANDO's computer vision cuts contamination &amp; fuel use)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climate modelling (En-ROADS style tools)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reduces resource waste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310896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7F8F4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 rot="300000">
            <a:off x="6492240" y="33375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00000">
            <a:off x="6557620" y="3402940"/>
            <a:ext cx="372161" cy="3721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3337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The Bad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537960" y="37947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running large models needs huge electricity + water for cooling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Data-centre electricity demand set to double by 2030 (415→945 TWh)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refresh cycles add to e-waste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are uneven unless paired with green-skilled workforces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11622024" y="6437376"/>
            <a:ext cx="146304" cy="146304"/>
          </a:xfrm>
          <a:prstGeom prst="ellipse">
            <a:avLst/>
          </a:prstGeom>
          <a:solidFill>
            <a:srgbClr val="E7F0D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1320272" y="64008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3657600"/>
            <a:ext cx="5029200" cy="5029200"/>
          </a:xfrm>
          <a:prstGeom prst="ellipse">
            <a:avLst/>
          </a:prstGeom>
          <a:solidFill>
            <a:srgbClr val="1E422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1E4220"/>
          </a:solidFill>
          <a:ln/>
        </p:spPr>
      </p:sp>
      <p:sp>
        <p:nvSpPr>
          <p:cNvPr id="4" name="Shape 2"/>
          <p:cNvSpPr/>
          <p:nvPr/>
        </p:nvSpPr>
        <p:spPr>
          <a:xfrm rot="-420000">
            <a:off x="640080" y="54864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20000">
            <a:off x="735178" y="64373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GreenSync AI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Campus Sustainability &amp; Green-Skilling Companion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4220"/>
          </a:solidFill>
          <a:ln/>
          <a:effectLst>
            <a:outerShdw sx="100000" sy="100000" kx="0" ky="0" algn="bl" rotWithShape="0" blurRad="101600" dist="38100" dir="2700000">
              <a:srgbClr val="1E422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3611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a computer-vision + analytics platform (inspired by NANDO) that tracks campus waste segregation and energy use in real time, converts it into a live carbon/ecological-footprint score, and recommends green-skilling modules (aligned with SCGJ courses) for students and staff to close the gaps it finds.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to: SDG 17 (Partnerships for the Goals) · SDG 12 (Responsible Consumption) · SDG 13 (Climate Action)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1622024" y="6437376"/>
            <a:ext cx="146304" cy="146304"/>
          </a:xfrm>
          <a:prstGeom prst="ellipse">
            <a:avLst/>
          </a:prstGeom>
          <a:solidFill>
            <a:srgbClr val="1E422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20272" y="64008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AI, Data &amp; the Path to a Sustainable Future</dc:title>
  <dc:subject>PptxGenJS Presentation</dc:subject>
  <dc:creator>Saindane Rohit</dc:creator>
  <cp:lastModifiedBy>Saindane Rohit</cp:lastModifiedBy>
  <cp:revision>1</cp:revision>
  <dcterms:created xsi:type="dcterms:W3CDTF">2026-07-06T11:03:34Z</dcterms:created>
  <dcterms:modified xsi:type="dcterms:W3CDTF">2026-07-06T11:03:34Z</dcterms:modified>
</cp:coreProperties>
</file>